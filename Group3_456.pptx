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6" r:id="rId4"/>
    <p:sldId id="267" r:id="rId5"/>
    <p:sldId id="268" r:id="rId6"/>
    <p:sldId id="269" r:id="rId7"/>
    <p:sldId id="270" r:id="rId8"/>
    <p:sldId id="258" r:id="rId9"/>
    <p:sldId id="263" r:id="rId10"/>
    <p:sldId id="271" r:id="rId11"/>
    <p:sldId id="259" r:id="rId12"/>
    <p:sldId id="264" r:id="rId13"/>
    <p:sldId id="272" r:id="rId14"/>
    <p:sldId id="262" r:id="rId15"/>
    <p:sldId id="265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FF3CD2-B3B2-76A2-8F0C-33FEBE86BB00}" v="6" dt="2025-11-29T02:14:12.446"/>
    <p1510:client id="{6308A9AE-7A5A-4F3C-A965-2ED7EA3944F4}" v="27" dt="2025-11-29T02:32:22.729"/>
    <p1510:client id="{65D98B83-AA4A-3EC0-6BE1-7FCD8B18C39E}" v="791" dt="2025-12-01T00:39:51.828"/>
    <p1510:client id="{82BCCB8C-4248-2863-E9CF-494749DB93D7}" v="118" dt="2025-11-30T04:08:00.372"/>
    <p1510:client id="{872773B0-06E2-60CD-FC32-934EEA4256DD}" v="46" dt="2025-11-30T21:58:19.103"/>
    <p1510:client id="{8B8324EA-8A79-A13A-6EB2-5A89127D4A03}" v="294" dt="2025-12-01T01:51:38.811"/>
    <p1510:client id="{EFBFED08-461E-E8D6-3AF0-B331791307B2}" v="45" dt="2025-11-30T20:48:54.7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1E42B9-CC66-43EF-A2F4-8CF95D45FA78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DA24188-7E26-4D9E-87BC-0E5362B28046}">
      <dgm:prSet/>
      <dgm:spPr/>
      <dgm:t>
        <a:bodyPr/>
        <a:lstStyle/>
        <a:p>
          <a:r>
            <a:rPr lang="en-US"/>
            <a:t>X-axis lists each food category</a:t>
          </a:r>
        </a:p>
      </dgm:t>
    </dgm:pt>
    <dgm:pt modelId="{021DB222-AE59-48E7-AFFD-C573615DD6D6}" type="parTrans" cxnId="{CCB8969B-2108-4366-BBA7-E8B1A7C4C925}">
      <dgm:prSet/>
      <dgm:spPr/>
      <dgm:t>
        <a:bodyPr/>
        <a:lstStyle/>
        <a:p>
          <a:endParaRPr lang="en-US"/>
        </a:p>
      </dgm:t>
    </dgm:pt>
    <dgm:pt modelId="{73CBFDE2-F2B2-4780-9D3B-8993532562EF}" type="sibTrans" cxnId="{CCB8969B-2108-4366-BBA7-E8B1A7C4C925}">
      <dgm:prSet/>
      <dgm:spPr/>
      <dgm:t>
        <a:bodyPr/>
        <a:lstStyle/>
        <a:p>
          <a:endParaRPr lang="en-US"/>
        </a:p>
      </dgm:t>
    </dgm:pt>
    <dgm:pt modelId="{5A89DE53-9E24-4591-87FC-E0C4D7ED98A4}">
      <dgm:prSet/>
      <dgm:spPr/>
      <dgm:t>
        <a:bodyPr/>
        <a:lstStyle/>
        <a:p>
          <a:r>
            <a:rPr lang="en-US"/>
            <a:t>Y-axis measures volatility </a:t>
          </a:r>
        </a:p>
      </dgm:t>
    </dgm:pt>
    <dgm:pt modelId="{138D5081-24C2-4775-B543-CC5655DBEC05}" type="parTrans" cxnId="{DCCA70BB-5ECF-45DE-B0AC-3FD4DF888DAD}">
      <dgm:prSet/>
      <dgm:spPr/>
      <dgm:t>
        <a:bodyPr/>
        <a:lstStyle/>
        <a:p>
          <a:endParaRPr lang="en-US"/>
        </a:p>
      </dgm:t>
    </dgm:pt>
    <dgm:pt modelId="{3CDD5433-D977-4FEA-8E2B-D690835DF767}" type="sibTrans" cxnId="{DCCA70BB-5ECF-45DE-B0AC-3FD4DF888DAD}">
      <dgm:prSet/>
      <dgm:spPr/>
      <dgm:t>
        <a:bodyPr/>
        <a:lstStyle/>
        <a:p>
          <a:endParaRPr lang="en-US"/>
        </a:p>
      </dgm:t>
    </dgm:pt>
    <dgm:pt modelId="{BED77AE0-0747-499A-BE49-4AF9035664C2}">
      <dgm:prSet/>
      <dgm:spPr/>
      <dgm:t>
        <a:bodyPr/>
        <a:lstStyle/>
        <a:p>
          <a:r>
            <a:rPr lang="en-US"/>
            <a:t>Taller the bars the more the prices fluctuate more aggressively</a:t>
          </a:r>
        </a:p>
      </dgm:t>
    </dgm:pt>
    <dgm:pt modelId="{15B02C87-9AAA-4E87-9AC6-04BFA1B53243}" type="parTrans" cxnId="{9B80F62F-763C-48C3-8EF0-FF7A87F1B01E}">
      <dgm:prSet/>
      <dgm:spPr/>
      <dgm:t>
        <a:bodyPr/>
        <a:lstStyle/>
        <a:p>
          <a:endParaRPr lang="en-US"/>
        </a:p>
      </dgm:t>
    </dgm:pt>
    <dgm:pt modelId="{7C777335-31B5-4614-B956-A25E2E141973}" type="sibTrans" cxnId="{9B80F62F-763C-48C3-8EF0-FF7A87F1B01E}">
      <dgm:prSet/>
      <dgm:spPr/>
      <dgm:t>
        <a:bodyPr/>
        <a:lstStyle/>
        <a:p>
          <a:endParaRPr lang="en-US"/>
        </a:p>
      </dgm:t>
    </dgm:pt>
    <dgm:pt modelId="{2D8EAEB6-A4E0-4319-8C7B-5D81755F81E9}">
      <dgm:prSet/>
      <dgm:spPr/>
      <dgm:t>
        <a:bodyPr/>
        <a:lstStyle/>
        <a:p>
          <a:r>
            <a:rPr lang="en-US"/>
            <a:t>Meat, fish, and eggs above 1500%</a:t>
          </a:r>
        </a:p>
      </dgm:t>
    </dgm:pt>
    <dgm:pt modelId="{D95A5885-98A4-49FD-9F51-678E8FEDA7EF}" type="parTrans" cxnId="{88A024DF-68D1-4462-A2A6-E7807F321BC0}">
      <dgm:prSet/>
      <dgm:spPr/>
      <dgm:t>
        <a:bodyPr/>
        <a:lstStyle/>
        <a:p>
          <a:endParaRPr lang="en-US"/>
        </a:p>
      </dgm:t>
    </dgm:pt>
    <dgm:pt modelId="{57E3F084-04C5-4D65-BDB5-432864295030}" type="sibTrans" cxnId="{88A024DF-68D1-4462-A2A6-E7807F321BC0}">
      <dgm:prSet/>
      <dgm:spPr/>
      <dgm:t>
        <a:bodyPr/>
        <a:lstStyle/>
        <a:p>
          <a:endParaRPr lang="en-US"/>
        </a:p>
      </dgm:t>
    </dgm:pt>
    <dgm:pt modelId="{462E7635-8B99-46D9-8A9E-0205F61BE61C}">
      <dgm:prSet/>
      <dgm:spPr/>
      <dgm:t>
        <a:bodyPr/>
        <a:lstStyle/>
        <a:p>
          <a:r>
            <a:rPr lang="en-US"/>
            <a:t>Other categories are more stable</a:t>
          </a:r>
        </a:p>
      </dgm:t>
    </dgm:pt>
    <dgm:pt modelId="{472D7DD7-9DD4-4EB0-99CB-90C8E4B94855}" type="parTrans" cxnId="{1844FB80-BA2F-4674-B605-63AB86406A9E}">
      <dgm:prSet/>
      <dgm:spPr/>
      <dgm:t>
        <a:bodyPr/>
        <a:lstStyle/>
        <a:p>
          <a:endParaRPr lang="en-US"/>
        </a:p>
      </dgm:t>
    </dgm:pt>
    <dgm:pt modelId="{08295BFB-E330-494F-B1E1-0FA74589F888}" type="sibTrans" cxnId="{1844FB80-BA2F-4674-B605-63AB86406A9E}">
      <dgm:prSet/>
      <dgm:spPr/>
      <dgm:t>
        <a:bodyPr/>
        <a:lstStyle/>
        <a:p>
          <a:endParaRPr lang="en-US"/>
        </a:p>
      </dgm:t>
    </dgm:pt>
    <dgm:pt modelId="{8E5FF749-B18A-4682-80F2-64802C5D63A7}" type="pres">
      <dgm:prSet presAssocID="{9B1E42B9-CC66-43EF-A2F4-8CF95D45FA78}" presName="outerComposite" presStyleCnt="0">
        <dgm:presLayoutVars>
          <dgm:chMax val="5"/>
          <dgm:dir/>
          <dgm:resizeHandles val="exact"/>
        </dgm:presLayoutVars>
      </dgm:prSet>
      <dgm:spPr/>
    </dgm:pt>
    <dgm:pt modelId="{10BC8924-1921-45DF-8C9F-46DE6D2CC772}" type="pres">
      <dgm:prSet presAssocID="{9B1E42B9-CC66-43EF-A2F4-8CF95D45FA78}" presName="dummyMaxCanvas" presStyleCnt="0">
        <dgm:presLayoutVars/>
      </dgm:prSet>
      <dgm:spPr/>
    </dgm:pt>
    <dgm:pt modelId="{CC0DCED9-DE93-4844-85B9-D313F8F272CE}" type="pres">
      <dgm:prSet presAssocID="{9B1E42B9-CC66-43EF-A2F4-8CF95D45FA78}" presName="FiveNodes_1" presStyleLbl="node1" presStyleIdx="0" presStyleCnt="5">
        <dgm:presLayoutVars>
          <dgm:bulletEnabled val="1"/>
        </dgm:presLayoutVars>
      </dgm:prSet>
      <dgm:spPr/>
    </dgm:pt>
    <dgm:pt modelId="{DFB561D2-2B33-4EDA-8485-62F8115ADD3E}" type="pres">
      <dgm:prSet presAssocID="{9B1E42B9-CC66-43EF-A2F4-8CF95D45FA78}" presName="FiveNodes_2" presStyleLbl="node1" presStyleIdx="1" presStyleCnt="5">
        <dgm:presLayoutVars>
          <dgm:bulletEnabled val="1"/>
        </dgm:presLayoutVars>
      </dgm:prSet>
      <dgm:spPr/>
    </dgm:pt>
    <dgm:pt modelId="{5C353A91-3A2C-460E-BF86-54A21E0DAF1A}" type="pres">
      <dgm:prSet presAssocID="{9B1E42B9-CC66-43EF-A2F4-8CF95D45FA78}" presName="FiveNodes_3" presStyleLbl="node1" presStyleIdx="2" presStyleCnt="5">
        <dgm:presLayoutVars>
          <dgm:bulletEnabled val="1"/>
        </dgm:presLayoutVars>
      </dgm:prSet>
      <dgm:spPr/>
    </dgm:pt>
    <dgm:pt modelId="{2CFA12B7-7030-4EA0-87CF-6864AAA9664F}" type="pres">
      <dgm:prSet presAssocID="{9B1E42B9-CC66-43EF-A2F4-8CF95D45FA78}" presName="FiveNodes_4" presStyleLbl="node1" presStyleIdx="3" presStyleCnt="5">
        <dgm:presLayoutVars>
          <dgm:bulletEnabled val="1"/>
        </dgm:presLayoutVars>
      </dgm:prSet>
      <dgm:spPr/>
    </dgm:pt>
    <dgm:pt modelId="{626DB592-F003-4C8B-B3FC-F36885771D22}" type="pres">
      <dgm:prSet presAssocID="{9B1E42B9-CC66-43EF-A2F4-8CF95D45FA78}" presName="FiveNodes_5" presStyleLbl="node1" presStyleIdx="4" presStyleCnt="5">
        <dgm:presLayoutVars>
          <dgm:bulletEnabled val="1"/>
        </dgm:presLayoutVars>
      </dgm:prSet>
      <dgm:spPr/>
    </dgm:pt>
    <dgm:pt modelId="{2EA680E3-2597-47D6-9210-548EB655C6B5}" type="pres">
      <dgm:prSet presAssocID="{9B1E42B9-CC66-43EF-A2F4-8CF95D45FA78}" presName="FiveConn_1-2" presStyleLbl="fgAccFollowNode1" presStyleIdx="0" presStyleCnt="4">
        <dgm:presLayoutVars>
          <dgm:bulletEnabled val="1"/>
        </dgm:presLayoutVars>
      </dgm:prSet>
      <dgm:spPr/>
    </dgm:pt>
    <dgm:pt modelId="{53B9A7CD-DE62-4BD7-A4C5-278D0BBC6F03}" type="pres">
      <dgm:prSet presAssocID="{9B1E42B9-CC66-43EF-A2F4-8CF95D45FA78}" presName="FiveConn_2-3" presStyleLbl="fgAccFollowNode1" presStyleIdx="1" presStyleCnt="4">
        <dgm:presLayoutVars>
          <dgm:bulletEnabled val="1"/>
        </dgm:presLayoutVars>
      </dgm:prSet>
      <dgm:spPr/>
    </dgm:pt>
    <dgm:pt modelId="{5E1D48A9-032E-4758-872B-6FD5475FC1E7}" type="pres">
      <dgm:prSet presAssocID="{9B1E42B9-CC66-43EF-A2F4-8CF95D45FA78}" presName="FiveConn_3-4" presStyleLbl="fgAccFollowNode1" presStyleIdx="2" presStyleCnt="4">
        <dgm:presLayoutVars>
          <dgm:bulletEnabled val="1"/>
        </dgm:presLayoutVars>
      </dgm:prSet>
      <dgm:spPr/>
    </dgm:pt>
    <dgm:pt modelId="{26418F2F-D4AC-40B3-B0B1-0575919BA639}" type="pres">
      <dgm:prSet presAssocID="{9B1E42B9-CC66-43EF-A2F4-8CF95D45FA78}" presName="FiveConn_4-5" presStyleLbl="fgAccFollowNode1" presStyleIdx="3" presStyleCnt="4">
        <dgm:presLayoutVars>
          <dgm:bulletEnabled val="1"/>
        </dgm:presLayoutVars>
      </dgm:prSet>
      <dgm:spPr/>
    </dgm:pt>
    <dgm:pt modelId="{30933334-753C-46BE-93DA-5AEC86FA2A24}" type="pres">
      <dgm:prSet presAssocID="{9B1E42B9-CC66-43EF-A2F4-8CF95D45FA78}" presName="FiveNodes_1_text" presStyleLbl="node1" presStyleIdx="4" presStyleCnt="5">
        <dgm:presLayoutVars>
          <dgm:bulletEnabled val="1"/>
        </dgm:presLayoutVars>
      </dgm:prSet>
      <dgm:spPr/>
    </dgm:pt>
    <dgm:pt modelId="{4599F7F8-CC12-400D-9F96-82B9FFC4AE87}" type="pres">
      <dgm:prSet presAssocID="{9B1E42B9-CC66-43EF-A2F4-8CF95D45FA78}" presName="FiveNodes_2_text" presStyleLbl="node1" presStyleIdx="4" presStyleCnt="5">
        <dgm:presLayoutVars>
          <dgm:bulletEnabled val="1"/>
        </dgm:presLayoutVars>
      </dgm:prSet>
      <dgm:spPr/>
    </dgm:pt>
    <dgm:pt modelId="{8E6FBDF2-E580-4085-ABD9-7E5181C5E846}" type="pres">
      <dgm:prSet presAssocID="{9B1E42B9-CC66-43EF-A2F4-8CF95D45FA78}" presName="FiveNodes_3_text" presStyleLbl="node1" presStyleIdx="4" presStyleCnt="5">
        <dgm:presLayoutVars>
          <dgm:bulletEnabled val="1"/>
        </dgm:presLayoutVars>
      </dgm:prSet>
      <dgm:spPr/>
    </dgm:pt>
    <dgm:pt modelId="{C392E891-C483-4153-9F8D-31FD4DCA1B64}" type="pres">
      <dgm:prSet presAssocID="{9B1E42B9-CC66-43EF-A2F4-8CF95D45FA78}" presName="FiveNodes_4_text" presStyleLbl="node1" presStyleIdx="4" presStyleCnt="5">
        <dgm:presLayoutVars>
          <dgm:bulletEnabled val="1"/>
        </dgm:presLayoutVars>
      </dgm:prSet>
      <dgm:spPr/>
    </dgm:pt>
    <dgm:pt modelId="{FE11742E-5607-4C32-B685-70FFB8BDB07C}" type="pres">
      <dgm:prSet presAssocID="{9B1E42B9-CC66-43EF-A2F4-8CF95D45FA78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827ED114-59F0-4926-982E-3223B6E9D098}" type="presOf" srcId="{9B1E42B9-CC66-43EF-A2F4-8CF95D45FA78}" destId="{8E5FF749-B18A-4682-80F2-64802C5D63A7}" srcOrd="0" destOrd="0" presId="urn:microsoft.com/office/officeart/2005/8/layout/vProcess5"/>
    <dgm:cxn modelId="{9B80F62F-763C-48C3-8EF0-FF7A87F1B01E}" srcId="{9B1E42B9-CC66-43EF-A2F4-8CF95D45FA78}" destId="{BED77AE0-0747-499A-BE49-4AF9035664C2}" srcOrd="2" destOrd="0" parTransId="{15B02C87-9AAA-4E87-9AC6-04BFA1B53243}" sibTransId="{7C777335-31B5-4614-B956-A25E2E141973}"/>
    <dgm:cxn modelId="{55F15A3A-2C80-4465-B67D-EBE5F327A686}" type="presOf" srcId="{462E7635-8B99-46D9-8A9E-0205F61BE61C}" destId="{626DB592-F003-4C8B-B3FC-F36885771D22}" srcOrd="0" destOrd="0" presId="urn:microsoft.com/office/officeart/2005/8/layout/vProcess5"/>
    <dgm:cxn modelId="{E482313F-C29A-4024-9DF7-D7C6FF32E120}" type="presOf" srcId="{BED77AE0-0747-499A-BE49-4AF9035664C2}" destId="{5C353A91-3A2C-460E-BF86-54A21E0DAF1A}" srcOrd="0" destOrd="0" presId="urn:microsoft.com/office/officeart/2005/8/layout/vProcess5"/>
    <dgm:cxn modelId="{7A5AF45B-7A37-443E-9045-1B2877530643}" type="presOf" srcId="{7C777335-31B5-4614-B956-A25E2E141973}" destId="{5E1D48A9-032E-4758-872B-6FD5475FC1E7}" srcOrd="0" destOrd="0" presId="urn:microsoft.com/office/officeart/2005/8/layout/vProcess5"/>
    <dgm:cxn modelId="{AAFA0B49-9DF9-430F-856C-73229A45D509}" type="presOf" srcId="{3DA24188-7E26-4D9E-87BC-0E5362B28046}" destId="{30933334-753C-46BE-93DA-5AEC86FA2A24}" srcOrd="1" destOrd="0" presId="urn:microsoft.com/office/officeart/2005/8/layout/vProcess5"/>
    <dgm:cxn modelId="{53F58155-5970-469E-AF02-080C85AD75CC}" type="presOf" srcId="{57E3F084-04C5-4D65-BDB5-432864295030}" destId="{26418F2F-D4AC-40B3-B0B1-0575919BA639}" srcOrd="0" destOrd="0" presId="urn:microsoft.com/office/officeart/2005/8/layout/vProcess5"/>
    <dgm:cxn modelId="{1844FB80-BA2F-4674-B605-63AB86406A9E}" srcId="{9B1E42B9-CC66-43EF-A2F4-8CF95D45FA78}" destId="{462E7635-8B99-46D9-8A9E-0205F61BE61C}" srcOrd="4" destOrd="0" parTransId="{472D7DD7-9DD4-4EB0-99CB-90C8E4B94855}" sibTransId="{08295BFB-E330-494F-B1E1-0FA74589F888}"/>
    <dgm:cxn modelId="{111ACA8F-C08D-4B35-87B0-1F9E632F196D}" type="presOf" srcId="{5A89DE53-9E24-4591-87FC-E0C4D7ED98A4}" destId="{4599F7F8-CC12-400D-9F96-82B9FFC4AE87}" srcOrd="1" destOrd="0" presId="urn:microsoft.com/office/officeart/2005/8/layout/vProcess5"/>
    <dgm:cxn modelId="{28EBC394-78FF-4295-A188-0694CFE50A3D}" type="presOf" srcId="{BED77AE0-0747-499A-BE49-4AF9035664C2}" destId="{8E6FBDF2-E580-4085-ABD9-7E5181C5E846}" srcOrd="1" destOrd="0" presId="urn:microsoft.com/office/officeart/2005/8/layout/vProcess5"/>
    <dgm:cxn modelId="{E4A59698-614C-468F-852F-5F5075D1CDF6}" type="presOf" srcId="{2D8EAEB6-A4E0-4319-8C7B-5D81755F81E9}" destId="{C392E891-C483-4153-9F8D-31FD4DCA1B64}" srcOrd="1" destOrd="0" presId="urn:microsoft.com/office/officeart/2005/8/layout/vProcess5"/>
    <dgm:cxn modelId="{0CED609B-9026-402A-8D0A-1101BB1B3511}" type="presOf" srcId="{462E7635-8B99-46D9-8A9E-0205F61BE61C}" destId="{FE11742E-5607-4C32-B685-70FFB8BDB07C}" srcOrd="1" destOrd="0" presId="urn:microsoft.com/office/officeart/2005/8/layout/vProcess5"/>
    <dgm:cxn modelId="{CCB8969B-2108-4366-BBA7-E8B1A7C4C925}" srcId="{9B1E42B9-CC66-43EF-A2F4-8CF95D45FA78}" destId="{3DA24188-7E26-4D9E-87BC-0E5362B28046}" srcOrd="0" destOrd="0" parTransId="{021DB222-AE59-48E7-AFFD-C573615DD6D6}" sibTransId="{73CBFDE2-F2B2-4780-9D3B-8993532562EF}"/>
    <dgm:cxn modelId="{0E9621A3-E259-428D-85C1-8029EA0C4393}" type="presOf" srcId="{2D8EAEB6-A4E0-4319-8C7B-5D81755F81E9}" destId="{2CFA12B7-7030-4EA0-87CF-6864AAA9664F}" srcOrd="0" destOrd="0" presId="urn:microsoft.com/office/officeart/2005/8/layout/vProcess5"/>
    <dgm:cxn modelId="{845B92B8-B7B6-4BF0-B8C0-523C22C8205E}" type="presOf" srcId="{3DA24188-7E26-4D9E-87BC-0E5362B28046}" destId="{CC0DCED9-DE93-4844-85B9-D313F8F272CE}" srcOrd="0" destOrd="0" presId="urn:microsoft.com/office/officeart/2005/8/layout/vProcess5"/>
    <dgm:cxn modelId="{DCCA70BB-5ECF-45DE-B0AC-3FD4DF888DAD}" srcId="{9B1E42B9-CC66-43EF-A2F4-8CF95D45FA78}" destId="{5A89DE53-9E24-4591-87FC-E0C4D7ED98A4}" srcOrd="1" destOrd="0" parTransId="{138D5081-24C2-4775-B543-CC5655DBEC05}" sibTransId="{3CDD5433-D977-4FEA-8E2B-D690835DF767}"/>
    <dgm:cxn modelId="{031078C2-1252-4E3C-AA70-3C3B32285B28}" type="presOf" srcId="{3CDD5433-D977-4FEA-8E2B-D690835DF767}" destId="{53B9A7CD-DE62-4BD7-A4C5-278D0BBC6F03}" srcOrd="0" destOrd="0" presId="urn:microsoft.com/office/officeart/2005/8/layout/vProcess5"/>
    <dgm:cxn modelId="{A5365AC3-C502-4F22-B73C-E7C5A1E8D217}" type="presOf" srcId="{5A89DE53-9E24-4591-87FC-E0C4D7ED98A4}" destId="{DFB561D2-2B33-4EDA-8485-62F8115ADD3E}" srcOrd="0" destOrd="0" presId="urn:microsoft.com/office/officeart/2005/8/layout/vProcess5"/>
    <dgm:cxn modelId="{559EA9C4-C0F8-4119-9D5F-18AF356FDBCB}" type="presOf" srcId="{73CBFDE2-F2B2-4780-9D3B-8993532562EF}" destId="{2EA680E3-2597-47D6-9210-548EB655C6B5}" srcOrd="0" destOrd="0" presId="urn:microsoft.com/office/officeart/2005/8/layout/vProcess5"/>
    <dgm:cxn modelId="{88A024DF-68D1-4462-A2A6-E7807F321BC0}" srcId="{9B1E42B9-CC66-43EF-A2F4-8CF95D45FA78}" destId="{2D8EAEB6-A4E0-4319-8C7B-5D81755F81E9}" srcOrd="3" destOrd="0" parTransId="{D95A5885-98A4-49FD-9F51-678E8FEDA7EF}" sibTransId="{57E3F084-04C5-4D65-BDB5-432864295030}"/>
    <dgm:cxn modelId="{1A7B5E01-8CAA-4866-A549-00581391BF07}" type="presParOf" srcId="{8E5FF749-B18A-4682-80F2-64802C5D63A7}" destId="{10BC8924-1921-45DF-8C9F-46DE6D2CC772}" srcOrd="0" destOrd="0" presId="urn:microsoft.com/office/officeart/2005/8/layout/vProcess5"/>
    <dgm:cxn modelId="{E46D60F0-05D3-428A-951A-381473FAE3B0}" type="presParOf" srcId="{8E5FF749-B18A-4682-80F2-64802C5D63A7}" destId="{CC0DCED9-DE93-4844-85B9-D313F8F272CE}" srcOrd="1" destOrd="0" presId="urn:microsoft.com/office/officeart/2005/8/layout/vProcess5"/>
    <dgm:cxn modelId="{286A5A9C-AAE5-4890-B61D-536C5FF9157F}" type="presParOf" srcId="{8E5FF749-B18A-4682-80F2-64802C5D63A7}" destId="{DFB561D2-2B33-4EDA-8485-62F8115ADD3E}" srcOrd="2" destOrd="0" presId="urn:microsoft.com/office/officeart/2005/8/layout/vProcess5"/>
    <dgm:cxn modelId="{E7F3DB2C-7A54-4E2E-86A0-E4AE1120DEA0}" type="presParOf" srcId="{8E5FF749-B18A-4682-80F2-64802C5D63A7}" destId="{5C353A91-3A2C-460E-BF86-54A21E0DAF1A}" srcOrd="3" destOrd="0" presId="urn:microsoft.com/office/officeart/2005/8/layout/vProcess5"/>
    <dgm:cxn modelId="{982DB315-5D8E-486A-9BA3-80BA836A880D}" type="presParOf" srcId="{8E5FF749-B18A-4682-80F2-64802C5D63A7}" destId="{2CFA12B7-7030-4EA0-87CF-6864AAA9664F}" srcOrd="4" destOrd="0" presId="urn:microsoft.com/office/officeart/2005/8/layout/vProcess5"/>
    <dgm:cxn modelId="{380DEA3E-AD7A-4956-BCBD-4320662FE301}" type="presParOf" srcId="{8E5FF749-B18A-4682-80F2-64802C5D63A7}" destId="{626DB592-F003-4C8B-B3FC-F36885771D22}" srcOrd="5" destOrd="0" presId="urn:microsoft.com/office/officeart/2005/8/layout/vProcess5"/>
    <dgm:cxn modelId="{25E32475-1A58-4950-94C4-BE6D96F753B8}" type="presParOf" srcId="{8E5FF749-B18A-4682-80F2-64802C5D63A7}" destId="{2EA680E3-2597-47D6-9210-548EB655C6B5}" srcOrd="6" destOrd="0" presId="urn:microsoft.com/office/officeart/2005/8/layout/vProcess5"/>
    <dgm:cxn modelId="{D398F254-CC6A-46DB-A5FB-55E527977B48}" type="presParOf" srcId="{8E5FF749-B18A-4682-80F2-64802C5D63A7}" destId="{53B9A7CD-DE62-4BD7-A4C5-278D0BBC6F03}" srcOrd="7" destOrd="0" presId="urn:microsoft.com/office/officeart/2005/8/layout/vProcess5"/>
    <dgm:cxn modelId="{4722647B-BEFE-4EC8-94B3-F28E207E5396}" type="presParOf" srcId="{8E5FF749-B18A-4682-80F2-64802C5D63A7}" destId="{5E1D48A9-032E-4758-872B-6FD5475FC1E7}" srcOrd="8" destOrd="0" presId="urn:microsoft.com/office/officeart/2005/8/layout/vProcess5"/>
    <dgm:cxn modelId="{BDDAE813-A593-43BA-8E01-9EDCF64395D2}" type="presParOf" srcId="{8E5FF749-B18A-4682-80F2-64802C5D63A7}" destId="{26418F2F-D4AC-40B3-B0B1-0575919BA639}" srcOrd="9" destOrd="0" presId="urn:microsoft.com/office/officeart/2005/8/layout/vProcess5"/>
    <dgm:cxn modelId="{98EF5C41-B897-40B0-B244-EE815949B4D1}" type="presParOf" srcId="{8E5FF749-B18A-4682-80F2-64802C5D63A7}" destId="{30933334-753C-46BE-93DA-5AEC86FA2A24}" srcOrd="10" destOrd="0" presId="urn:microsoft.com/office/officeart/2005/8/layout/vProcess5"/>
    <dgm:cxn modelId="{F8564078-3DA9-4099-B808-EC240EA37B0A}" type="presParOf" srcId="{8E5FF749-B18A-4682-80F2-64802C5D63A7}" destId="{4599F7F8-CC12-400D-9F96-82B9FFC4AE87}" srcOrd="11" destOrd="0" presId="urn:microsoft.com/office/officeart/2005/8/layout/vProcess5"/>
    <dgm:cxn modelId="{67AB16F3-C821-46EB-A74D-7469FA5AFB75}" type="presParOf" srcId="{8E5FF749-B18A-4682-80F2-64802C5D63A7}" destId="{8E6FBDF2-E580-4085-ABD9-7E5181C5E846}" srcOrd="12" destOrd="0" presId="urn:microsoft.com/office/officeart/2005/8/layout/vProcess5"/>
    <dgm:cxn modelId="{F437E3FB-5FBD-4D68-A5C6-C2698D60E7C9}" type="presParOf" srcId="{8E5FF749-B18A-4682-80F2-64802C5D63A7}" destId="{C392E891-C483-4153-9F8D-31FD4DCA1B64}" srcOrd="13" destOrd="0" presId="urn:microsoft.com/office/officeart/2005/8/layout/vProcess5"/>
    <dgm:cxn modelId="{025B4832-B8D4-40C6-8EE1-85E81008BF9C}" type="presParOf" srcId="{8E5FF749-B18A-4682-80F2-64802C5D63A7}" destId="{FE11742E-5607-4C32-B685-70FFB8BDB07C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0DCED9-DE93-4844-85B9-D313F8F272CE}">
      <dsp:nvSpPr>
        <dsp:cNvPr id="0" name=""/>
        <dsp:cNvSpPr/>
      </dsp:nvSpPr>
      <dsp:spPr>
        <a:xfrm>
          <a:off x="0" y="0"/>
          <a:ext cx="3971495" cy="6632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X-axis lists each food category</a:t>
          </a:r>
        </a:p>
      </dsp:txBody>
      <dsp:txXfrm>
        <a:off x="19425" y="19425"/>
        <a:ext cx="3178226" cy="624375"/>
      </dsp:txXfrm>
    </dsp:sp>
    <dsp:sp modelId="{DFB561D2-2B33-4EDA-8485-62F8115ADD3E}">
      <dsp:nvSpPr>
        <dsp:cNvPr id="0" name=""/>
        <dsp:cNvSpPr/>
      </dsp:nvSpPr>
      <dsp:spPr>
        <a:xfrm>
          <a:off x="296572" y="755340"/>
          <a:ext cx="3971495" cy="6632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Y-axis measures volatility </a:t>
          </a:r>
        </a:p>
      </dsp:txBody>
      <dsp:txXfrm>
        <a:off x="315997" y="774765"/>
        <a:ext cx="3204976" cy="624375"/>
      </dsp:txXfrm>
    </dsp:sp>
    <dsp:sp modelId="{5C353A91-3A2C-460E-BF86-54A21E0DAF1A}">
      <dsp:nvSpPr>
        <dsp:cNvPr id="0" name=""/>
        <dsp:cNvSpPr/>
      </dsp:nvSpPr>
      <dsp:spPr>
        <a:xfrm>
          <a:off x="593145" y="1510681"/>
          <a:ext cx="3971495" cy="6632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Taller the bars the more the prices fluctuate more aggressively</a:t>
          </a:r>
        </a:p>
      </dsp:txBody>
      <dsp:txXfrm>
        <a:off x="612570" y="1530106"/>
        <a:ext cx="3204976" cy="624375"/>
      </dsp:txXfrm>
    </dsp:sp>
    <dsp:sp modelId="{2CFA12B7-7030-4EA0-87CF-6864AAA9664F}">
      <dsp:nvSpPr>
        <dsp:cNvPr id="0" name=""/>
        <dsp:cNvSpPr/>
      </dsp:nvSpPr>
      <dsp:spPr>
        <a:xfrm>
          <a:off x="889718" y="2266021"/>
          <a:ext cx="3971495" cy="6632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Meat, fish, and eggs above 1500%</a:t>
          </a:r>
        </a:p>
      </dsp:txBody>
      <dsp:txXfrm>
        <a:off x="909143" y="2285446"/>
        <a:ext cx="3204976" cy="624375"/>
      </dsp:txXfrm>
    </dsp:sp>
    <dsp:sp modelId="{626DB592-F003-4C8B-B3FC-F36885771D22}">
      <dsp:nvSpPr>
        <dsp:cNvPr id="0" name=""/>
        <dsp:cNvSpPr/>
      </dsp:nvSpPr>
      <dsp:spPr>
        <a:xfrm>
          <a:off x="1186291" y="3021362"/>
          <a:ext cx="3971495" cy="6632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Other categories are more stable</a:t>
          </a:r>
        </a:p>
      </dsp:txBody>
      <dsp:txXfrm>
        <a:off x="1205716" y="3040787"/>
        <a:ext cx="3204976" cy="624375"/>
      </dsp:txXfrm>
    </dsp:sp>
    <dsp:sp modelId="{2EA680E3-2597-47D6-9210-548EB655C6B5}">
      <dsp:nvSpPr>
        <dsp:cNvPr id="0" name=""/>
        <dsp:cNvSpPr/>
      </dsp:nvSpPr>
      <dsp:spPr>
        <a:xfrm>
          <a:off x="3540399" y="484523"/>
          <a:ext cx="431096" cy="43109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3637396" y="484523"/>
        <a:ext cx="237102" cy="324400"/>
      </dsp:txXfrm>
    </dsp:sp>
    <dsp:sp modelId="{53B9A7CD-DE62-4BD7-A4C5-278D0BBC6F03}">
      <dsp:nvSpPr>
        <dsp:cNvPr id="0" name=""/>
        <dsp:cNvSpPr/>
      </dsp:nvSpPr>
      <dsp:spPr>
        <a:xfrm>
          <a:off x="3836971" y="1239863"/>
          <a:ext cx="431096" cy="43109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3933968" y="1239863"/>
        <a:ext cx="237102" cy="324400"/>
      </dsp:txXfrm>
    </dsp:sp>
    <dsp:sp modelId="{5E1D48A9-032E-4758-872B-6FD5475FC1E7}">
      <dsp:nvSpPr>
        <dsp:cNvPr id="0" name=""/>
        <dsp:cNvSpPr/>
      </dsp:nvSpPr>
      <dsp:spPr>
        <a:xfrm>
          <a:off x="4133544" y="1984150"/>
          <a:ext cx="431096" cy="43109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4230541" y="1984150"/>
        <a:ext cx="237102" cy="324400"/>
      </dsp:txXfrm>
    </dsp:sp>
    <dsp:sp modelId="{26418F2F-D4AC-40B3-B0B1-0575919BA639}">
      <dsp:nvSpPr>
        <dsp:cNvPr id="0" name=""/>
        <dsp:cNvSpPr/>
      </dsp:nvSpPr>
      <dsp:spPr>
        <a:xfrm>
          <a:off x="4430117" y="2746860"/>
          <a:ext cx="431096" cy="431096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4527114" y="2746860"/>
        <a:ext cx="237102" cy="3244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9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15031" y="1380754"/>
            <a:ext cx="5561938" cy="2513516"/>
          </a:xfrm>
        </p:spPr>
        <p:txBody>
          <a:bodyPr vert="horz" lIns="91440" tIns="45720" rIns="91440" bIns="45720" rtlCol="0">
            <a:normAutofit fontScale="90000"/>
          </a:bodyPr>
          <a:lstStyle/>
          <a:p>
            <a:r>
              <a:rPr lang="en-US" sz="5600" kern="1200">
                <a:latin typeface="+mj-lt"/>
                <a:ea typeface="+mj-ea"/>
                <a:cs typeface="+mj-cs"/>
              </a:rPr>
              <a:t>Feeding the Data: Mining Patterns in Global</a:t>
            </a:r>
            <a:r>
              <a:rPr lang="en-US" sz="5600"/>
              <a:t> Food Prices</a:t>
            </a:r>
            <a:endParaRPr lang="en-US" sz="5600" kern="1200">
              <a:latin typeface="+mj-lt"/>
              <a:ea typeface="+mj-ea"/>
              <a:cs typeface="+mj-c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15031" y="4076802"/>
            <a:ext cx="5561938" cy="1534587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300"/>
              <a:t>Dataset Name: Global Food Prices (2000 – Present)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300"/>
              <a:t>Team Members: 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300"/>
              <a:t>Mari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300"/>
              <a:t>Dean 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300"/>
              <a:t>Jeremy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300"/>
          </a:p>
        </p:txBody>
      </p:sp>
      <p:sp>
        <p:nvSpPr>
          <p:cNvPr id="57" name="Arc 56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6170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CA3F21-AA76-948D-8372-2D7634E12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7200">
                <a:ea typeface="+mj-lt"/>
                <a:cs typeface="+mj-lt"/>
              </a:rPr>
              <a:t>Introduction</a:t>
            </a:r>
            <a:endParaRPr lang="en-US" sz="7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FEC34-9A1D-71C8-13BB-4B6D346BC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779459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CEF14-5F64-579C-82A2-5C6BB3D8A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Dean: Where was this data taken from?</a:t>
            </a:r>
          </a:p>
        </p:txBody>
      </p:sp>
      <p:pic>
        <p:nvPicPr>
          <p:cNvPr id="4" name="Content Placeholder 3" descr="A map of the world with orange dots&#10;&#10;AI-generated content may be incorrect.">
            <a:extLst>
              <a:ext uri="{FF2B5EF4-FFF2-40B4-BE49-F238E27FC236}">
                <a16:creationId xmlns:a16="http://schemas.microsoft.com/office/drawing/2014/main" id="{BC72313C-2305-1E74-459D-0B2A9E96C0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78365"/>
            <a:ext cx="10515600" cy="424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228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10E46-74BD-3B65-6699-E93BCDC93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Dean: Where was this data taken from?</a:t>
            </a:r>
          </a:p>
        </p:txBody>
      </p:sp>
      <p:pic>
        <p:nvPicPr>
          <p:cNvPr id="4" name="Content Placeholder 3" descr="A map of the world&#10;&#10;AI-generated content may be incorrect.">
            <a:extLst>
              <a:ext uri="{FF2B5EF4-FFF2-40B4-BE49-F238E27FC236}">
                <a16:creationId xmlns:a16="http://schemas.microsoft.com/office/drawing/2014/main" id="{C26A7B80-6EE8-ADAF-B351-F10D187726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64578"/>
            <a:ext cx="10515600" cy="4273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92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0AE43-4132-5D70-EF65-97E305792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Dean: How have wages changed over time?</a:t>
            </a:r>
          </a:p>
        </p:txBody>
      </p:sp>
      <p:pic>
        <p:nvPicPr>
          <p:cNvPr id="4" name="Content Placeholder 3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DA4BBDD9-AEC6-02CE-2929-6C7889FB68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15640" y="1943894"/>
            <a:ext cx="576072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855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15697-CB56-DFF0-D0BA-92A54DF49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4237" y="365125"/>
            <a:ext cx="4189563" cy="3899109"/>
          </a:xfrm>
        </p:spPr>
        <p:txBody>
          <a:bodyPr/>
          <a:lstStyle/>
          <a:p>
            <a:r>
              <a:rPr lang="en-US"/>
              <a:t>Dean: Are there outliers in the food prices?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ACEBE0F-1F3A-42A8-C743-ACB21B90D8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18" y="175479"/>
            <a:ext cx="6086940" cy="65158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7AF728D-4A6C-61C7-539B-A3D394D7CC78}"/>
              </a:ext>
            </a:extLst>
          </p:cNvPr>
          <p:cNvSpPr txBox="1"/>
          <p:nvPr/>
        </p:nvSpPr>
        <p:spPr>
          <a:xfrm>
            <a:off x="7169629" y="4898366"/>
            <a:ext cx="295275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Graph before removing outliers.</a:t>
            </a:r>
          </a:p>
        </p:txBody>
      </p:sp>
    </p:spTree>
    <p:extLst>
      <p:ext uri="{BB962C8B-B14F-4D97-AF65-F5344CB8AC3E}">
        <p14:creationId xmlns:p14="http://schemas.microsoft.com/office/powerpoint/2010/main" val="2345562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BE370-6D06-5BCC-1384-E005B439A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CBF08-E3FB-3FFE-51FA-0330067F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4237" y="365125"/>
            <a:ext cx="4189563" cy="3899109"/>
          </a:xfrm>
        </p:spPr>
        <p:txBody>
          <a:bodyPr/>
          <a:lstStyle/>
          <a:p>
            <a:r>
              <a:rPr lang="en-US"/>
              <a:t>Dean: Are there outliers in the food prices?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BACE6D8-73F2-718C-0014-0002E717BD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532" y="175479"/>
            <a:ext cx="5971311" cy="65158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B0A012F-A6C7-E45D-36CE-81E5025D8415}"/>
              </a:ext>
            </a:extLst>
          </p:cNvPr>
          <p:cNvSpPr txBox="1"/>
          <p:nvPr/>
        </p:nvSpPr>
        <p:spPr>
          <a:xfrm>
            <a:off x="7169629" y="4898366"/>
            <a:ext cx="295275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Graph after removing outliers.</a:t>
            </a:r>
          </a:p>
        </p:txBody>
      </p:sp>
    </p:spTree>
    <p:extLst>
      <p:ext uri="{BB962C8B-B14F-4D97-AF65-F5344CB8AC3E}">
        <p14:creationId xmlns:p14="http://schemas.microsoft.com/office/powerpoint/2010/main" val="3317915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 descr="Assorted piles of beans and legumes">
            <a:extLst>
              <a:ext uri="{FF2B5EF4-FFF2-40B4-BE49-F238E27FC236}">
                <a16:creationId xmlns:a16="http://schemas.microsoft.com/office/drawing/2014/main" id="{FBCC9E3E-CA11-6A29-ADF1-48F26900BA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51" t="6484" r="19547" b="-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1" name="Rectangle 6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A90980-BC7B-5BA6-5B0F-4E6A51E2F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100" b="1"/>
              <a:t>How have median food prices shifted between the 2000s, 2010s, and 2020s?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9751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ED716-A28B-9BAE-CC6B-A77C9AF5E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Methodology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C56C36-AB5B-97AA-CE09-6883E454386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EEF5A4-57DF-F0EA-EB2F-7378E827405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First, I converted all dates into decade labels.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Then I cleaned the data by removing missing or invalid prices.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 calculated the median price for each decade because it handles outliers better.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Finally, I created a bar chart to compare the three decades.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787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507CB-F9A6-15D0-3E17-FE044BDC3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Key Findings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70370D-AF23-EDE2-8DBB-0AE4F62D43F2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5A4460-CDDD-ED2B-0F8B-3E53901A702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Food prices increased in every decade.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The 2020s had the highest median prices.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This shows a long-term rise in global food costs.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Even with missing years, the upward trend was still very strong.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526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Vegetables and fruits in a row">
            <a:extLst>
              <a:ext uri="{FF2B5EF4-FFF2-40B4-BE49-F238E27FC236}">
                <a16:creationId xmlns:a16="http://schemas.microsoft.com/office/drawing/2014/main" id="{6C0D4C20-BCF9-08D4-8DCA-4DF923071E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605" r="-2" b="-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870DEF6-46A2-D4F8-8BE6-91165D93E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83934" y="1860919"/>
            <a:ext cx="4975280" cy="3108645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C5B54F-D10F-142C-F4D0-76470A5C3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0528" y="2299176"/>
            <a:ext cx="4131368" cy="15711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300" b="1"/>
              <a:t>Can we classify foods as Perishable or Non-Perishable?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22632D6-DED9-FDEC-FD9F-09FF0A454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3170" y="403477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42045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25ADC-B2EC-603D-C5A2-AD44AE334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Methodology 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5BFCD-D904-2B30-CAFF-61A15FF95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2CDE09-4DFE-44B6-26F6-1A860611284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 labeled foods as perishable or non-perishable using their category.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Then I selected features like price and location information.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Because the dataset was huge, I sampled 100,000 rows to avoid memory errors.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 encoded the text columns into numbers and trained a Decision Tree classifier.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 checked the model using accuracy and a confusion matrix.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4400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C89CA-305E-E96C-8043-ED9BEB817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Key Findings 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8C9B8-3B39-DE5B-3153-29256688E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The model could classify perishability fairly well.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Price and commodity type were the most helpful features.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The confusion matrix showed that some foods were still hard to predict.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Overall, the model showed that perishability can be estimated from basic market data.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89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DCE5F-38B5-4675-2E96-30B862D51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878" y="2912372"/>
            <a:ext cx="4491821" cy="1616203"/>
          </a:xfrm>
        </p:spPr>
        <p:txBody>
          <a:bodyPr anchor="b">
            <a:noAutofit/>
          </a:bodyPr>
          <a:lstStyle/>
          <a:p>
            <a:r>
              <a:rPr lang="en-US" sz="4000" b="1">
                <a:ea typeface="+mj-lt"/>
                <a:cs typeface="+mj-lt"/>
              </a:rPr>
              <a:t>Do different countries show unique patterns in the food items reported together?</a:t>
            </a:r>
            <a:endParaRPr lang="en-US" sz="4000" b="1"/>
          </a:p>
        </p:txBody>
      </p:sp>
      <p:pic>
        <p:nvPicPr>
          <p:cNvPr id="5" name="Picture 4" descr="Cooked food with ingredients on a table">
            <a:extLst>
              <a:ext uri="{FF2B5EF4-FFF2-40B4-BE49-F238E27FC236}">
                <a16:creationId xmlns:a16="http://schemas.microsoft.com/office/drawing/2014/main" id="{FFA7832D-71D8-061D-1334-5AD435346D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626" r="9042" b="2"/>
          <a:stretch>
            <a:fillRect/>
          </a:stretch>
        </p:blipFill>
        <p:spPr>
          <a:xfrm>
            <a:off x="20" y="10"/>
            <a:ext cx="6095980" cy="6857990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5EFBDE31-BB3E-6CFC-23CD-B5976DA38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80A60EC-72BB-121F-556A-E2837FD99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91A2FAE-D41C-FF5D-B0A0-7808248ED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FF29B-8F62-3392-CC41-1130E5823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3878" y="2533476"/>
            <a:ext cx="4491820" cy="3447832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784832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9B317-ACBC-EF85-CAF6-20392B84F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Methodology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5AC22-A40A-1ED3-0953-FE740A87F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9361"/>
            <a:ext cx="4922808" cy="4437602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>
                <a:ea typeface="+mn-lt"/>
                <a:cs typeface="+mn-lt"/>
              </a:rPr>
              <a:t>I selected the top three countries with the most records.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 grouped the data by country, market, and date to form “food baskets.”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Then I used the Apriori algorithm to find common food combinations.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 generated association rules and selected the strongest ones based on lift.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 visualized the top rules using a bar chart.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71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55F58-BF46-7E6E-08A1-CEA409102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Key Findings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5519E-325B-06B3-70CD-7596DA641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Each country showed different food combinations.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Some food pairs had very strong lift values, indicating strong relationships.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These patterns likely reflect regional diets or market habits.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Even with limited data, the rules still revealed meaningful insights.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5598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A10EB7-88E7-48AE-FCC2-33C384663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400"/>
              <a:t>Price Volatility</a:t>
            </a: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D0072F7-17A8-DED0-112C-526FA6AC9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b="1">
                <a:latin typeface="Calibri"/>
                <a:ea typeface="Calibri"/>
                <a:cs typeface="Calibri"/>
              </a:rPr>
              <a:t>How does food price volatility (month-to-month percent change) vary across very across different food categories, and which categories are the most unstable globally? </a:t>
            </a:r>
            <a:endParaRPr lang="en-US" sz="2200">
              <a:latin typeface="Calibri"/>
              <a:ea typeface="Calibri"/>
              <a:cs typeface="Calibri"/>
            </a:endParaRPr>
          </a:p>
        </p:txBody>
      </p:sp>
      <p:pic>
        <p:nvPicPr>
          <p:cNvPr id="4" name="Content Placeholder 3" descr="A graph of food prices&#10;&#10;AI-generated content may be incorrect.">
            <a:extLst>
              <a:ext uri="{FF2B5EF4-FFF2-40B4-BE49-F238E27FC236}">
                <a16:creationId xmlns:a16="http://schemas.microsoft.com/office/drawing/2014/main" id="{F38EB0D7-33A4-7EE6-98D5-640D57077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1870" y="1079914"/>
            <a:ext cx="6429735" cy="4082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3724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DA3AC6-540A-3279-4511-3CC2993AB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Methodology </a:t>
            </a:r>
          </a:p>
        </p:txBody>
      </p:sp>
      <p:sp>
        <p:nvSpPr>
          <p:cNvPr id="35" name="Arc 34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D54FD-AA97-04E5-30F6-A9882388F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Aptos"/>
                <a:cs typeface="Times New Roman"/>
              </a:rPr>
              <a:t>Grouped by month-end dates and averaged within each food category</a:t>
            </a:r>
          </a:p>
          <a:p>
            <a:r>
              <a:rPr lang="en-US" dirty="0">
                <a:latin typeface="Aptos"/>
                <a:cs typeface="Times New Roman"/>
              </a:rPr>
              <a:t>Used method-chained </a:t>
            </a:r>
            <a:r>
              <a:rPr lang="en-US" dirty="0" err="1">
                <a:latin typeface="Aptos"/>
                <a:cs typeface="Times New Roman"/>
              </a:rPr>
              <a:t>DataFrame</a:t>
            </a:r>
            <a:r>
              <a:rPr lang="en-US" dirty="0">
                <a:latin typeface="Aptos"/>
                <a:cs typeface="Times New Roman"/>
              </a:rPr>
              <a:t> operations, calculating every category using .</a:t>
            </a:r>
            <a:r>
              <a:rPr lang="en-US" dirty="0" err="1">
                <a:latin typeface="Aptos"/>
                <a:cs typeface="Times New Roman"/>
              </a:rPr>
              <a:t>pct_change</a:t>
            </a:r>
            <a:r>
              <a:rPr lang="en-US" dirty="0">
                <a:latin typeface="Aptos"/>
                <a:cs typeface="Times New Roman"/>
              </a:rPr>
              <a:t>()</a:t>
            </a:r>
          </a:p>
          <a:p>
            <a:r>
              <a:rPr lang="en-US" dirty="0">
                <a:latin typeface="Aptos"/>
                <a:cs typeface="Times New Roman"/>
              </a:rPr>
              <a:t>Sorted by most to least volatile</a:t>
            </a:r>
          </a:p>
          <a:p>
            <a:endParaRPr lang="en-US">
              <a:latin typeface="Aptos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948798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A8344-3FC1-859C-840F-8B54E5BB6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 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FB9D99-367A-262C-19FD-44DE67BD2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 Explanation</a:t>
            </a:r>
          </a:p>
        </p:txBody>
      </p:sp>
      <p:graphicFrame>
        <p:nvGraphicFramePr>
          <p:cNvPr id="14" name="Content Placeholder 3">
            <a:extLst>
              <a:ext uri="{FF2B5EF4-FFF2-40B4-BE49-F238E27FC236}">
                <a16:creationId xmlns:a16="http://schemas.microsoft.com/office/drawing/2014/main" id="{835A1C7A-1D24-B84A-B665-615B3E175F65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839788" y="2505075"/>
          <a:ext cx="5157787" cy="3684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6F847A-4987-1199-9605-3CABC284FE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Content Placeholder 3" descr="A graph of food prices&#10;&#10;AI-generated content may be incorrect.">
            <a:extLst>
              <a:ext uri="{FF2B5EF4-FFF2-40B4-BE49-F238E27FC236}">
                <a16:creationId xmlns:a16="http://schemas.microsoft.com/office/drawing/2014/main" id="{1170132C-D52F-BE28-F4C9-04D4DB8C95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47978" y="571914"/>
            <a:ext cx="6429735" cy="4082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8535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Golden wheat against sky">
            <a:extLst>
              <a:ext uri="{FF2B5EF4-FFF2-40B4-BE49-F238E27FC236}">
                <a16:creationId xmlns:a16="http://schemas.microsoft.com/office/drawing/2014/main" id="{424B786F-11C1-CBC6-E288-CE670455B2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305" r="-2" b="-2"/>
          <a:stretch>
            <a:fillRect/>
          </a:stretch>
        </p:blipFill>
        <p:spPr>
          <a:xfrm>
            <a:off x="20" y="-7619"/>
            <a:ext cx="12191979" cy="688736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063219" y="-1252908"/>
            <a:ext cx="4065561" cy="12192000"/>
          </a:xfrm>
          <a:prstGeom prst="rect">
            <a:avLst/>
          </a:prstGeom>
          <a:gradFill flip="none" rotWithShape="1">
            <a:gsLst>
              <a:gs pos="17000">
                <a:srgbClr val="000000">
                  <a:alpha val="59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2CB243-67C5-E304-31A0-4D7D607BA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464116" y="322049"/>
            <a:ext cx="3067943" cy="2408606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2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A95761-C93E-94BF-087D-D2A823789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0392" y="4172881"/>
            <a:ext cx="7154743" cy="2702991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52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54B09A-E63C-1468-E0D2-62457FB5D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029" y="1936866"/>
            <a:ext cx="4849044" cy="283927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Geographic Influence 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892A4-9C82-27B0-F415-F21BEAE91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9028" y="4873600"/>
            <a:ext cx="4849044" cy="118360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900" b="1">
                <a:solidFill>
                  <a:srgbClr val="FFFFFF"/>
                </a:solidFill>
              </a:rPr>
              <a:t>Is there a relationship between a market's latitude/longitude and the average price level of essential staples (e.g., rice, wheat, maize)?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E63D1A5-FD49-4756-F62E-786C34E63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06736" y="-7619"/>
            <a:ext cx="995654" cy="6918113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37000">
                <a:schemeClr val="accent5">
                  <a:alpha val="0"/>
                </a:schemeClr>
              </a:gs>
            </a:gsLst>
            <a:lin ang="10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3057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9B0D4-F482-A00D-5C9F-C8B6A523C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388" y="457200"/>
            <a:ext cx="3957637" cy="1600200"/>
          </a:xfrm>
        </p:spPr>
        <p:txBody>
          <a:bodyPr>
            <a:normAutofit/>
          </a:bodyPr>
          <a:lstStyle/>
          <a:p>
            <a:r>
              <a:rPr lang="en-US" sz="4400" dirty="0"/>
              <a:t>Methodology and purpose</a:t>
            </a:r>
          </a:p>
        </p:txBody>
      </p:sp>
      <p:pic>
        <p:nvPicPr>
          <p:cNvPr id="5" name="Picture Placeholder 4" descr="A map of different colors&#10;&#10;AI-generated content may be incorrect.">
            <a:extLst>
              <a:ext uri="{FF2B5EF4-FFF2-40B4-BE49-F238E27FC236}">
                <a16:creationId xmlns:a16="http://schemas.microsoft.com/office/drawing/2014/main" id="{507CAF17-1EF2-140C-2EFE-EDFFD8F3F55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2508" r="2508"/>
          <a:stretch/>
        </p:blipFill>
        <p:spPr>
          <a:xfrm>
            <a:off x="5628167" y="1195387"/>
            <a:ext cx="5943600" cy="445770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FF1152-D876-9C92-507D-7FA0E40C339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Char char="•"/>
            </a:pPr>
            <a:r>
              <a:rPr lang="en-US" dirty="0"/>
              <a:t>Does geography play a role in shaping staple food prices?</a:t>
            </a:r>
          </a:p>
          <a:p>
            <a:pPr marL="285750" indent="-285750">
              <a:buChar char="•"/>
            </a:pPr>
            <a:r>
              <a:rPr lang="en-US" dirty="0"/>
              <a:t>Use each categories longitude and latitude and compare their location and </a:t>
            </a:r>
            <a:r>
              <a:rPr lang="en-US"/>
              <a:t>their average prices </a:t>
            </a:r>
          </a:p>
          <a:p>
            <a:pPr marL="285750" indent="-285750">
              <a:buChar char="•"/>
            </a:pPr>
            <a:r>
              <a:rPr lang="en-US" dirty="0"/>
              <a:t>Lighter color represents a higher cost vs darker</a:t>
            </a:r>
          </a:p>
          <a:p>
            <a:pPr marL="285750" indent="-285750">
              <a:buChar char="•"/>
            </a:pPr>
            <a:r>
              <a:rPr lang="en-US" dirty="0"/>
              <a:t>Majority scattered across Africa, Middle </a:t>
            </a:r>
            <a:r>
              <a:rPr lang="en-US"/>
              <a:t>East, and South Asia.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6329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AFE8227-C443-417B-BA91-520EB1EF4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8DE9CC-1A60-5CCE-8862-98E8B4536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3193" y="489507"/>
            <a:ext cx="3091607" cy="1655483"/>
          </a:xfrm>
        </p:spPr>
        <p:txBody>
          <a:bodyPr anchor="b">
            <a:normAutofit/>
          </a:bodyPr>
          <a:lstStyle/>
          <a:p>
            <a:r>
              <a:rPr lang="en-US" sz="4000"/>
              <a:t>Results</a:t>
            </a:r>
          </a:p>
        </p:txBody>
      </p:sp>
      <p:pic>
        <p:nvPicPr>
          <p:cNvPr id="5" name="Picture Placeholder 4" descr="A map of different colors&#10;&#10;AI-generated content may be incorrect.">
            <a:extLst>
              <a:ext uri="{FF2B5EF4-FFF2-40B4-BE49-F238E27FC236}">
                <a16:creationId xmlns:a16="http://schemas.microsoft.com/office/drawing/2014/main" id="{FB3EA7E1-D563-F2EE-5E41-4B2C656E52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19" r="2104"/>
          <a:stretch>
            <a:fillRect/>
          </a:stretch>
        </p:blipFill>
        <p:spPr>
          <a:xfrm>
            <a:off x="20" y="431"/>
            <a:ext cx="8115280" cy="640831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DDC38-6970-8832-1AE6-9A17A9D8D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3193" y="2418408"/>
            <a:ext cx="2942813" cy="354026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/>
              <a:t>Geography does not affect price separation for staple foods</a:t>
            </a:r>
          </a:p>
          <a:p>
            <a:r>
              <a:rPr lang="en-US" sz="2000" dirty="0"/>
              <a:t>Most markets fall within a similar price band </a:t>
            </a:r>
          </a:p>
          <a:p>
            <a:r>
              <a:rPr lang="en-US" sz="2000" dirty="0"/>
              <a:t>Very little color variation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7741FC-B544-4A6E-B831-6789D0423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6408741"/>
            <a:ext cx="12191998" cy="45720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0BE7ED-7814-4273-B18A-F26CC038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6408742"/>
            <a:ext cx="8115300" cy="449258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8196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1FD585-57E9-2F1C-84AC-55BD2DF96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Wages vs Affordability 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92FBE6-0666-DF27-FA0A-82C96E5A7B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90966" y="3428999"/>
            <a:ext cx="4805691" cy="83883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7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How has the ratio of food prices to local wages (a proxy for affordability) changed over time in countries where wage data exists?</a:t>
            </a:r>
            <a:endParaRPr lang="en-US" sz="1700" kern="12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7" name="Graphic 6" descr="Money">
            <a:extLst>
              <a:ext uri="{FF2B5EF4-FFF2-40B4-BE49-F238E27FC236}">
                <a16:creationId xmlns:a16="http://schemas.microsoft.com/office/drawing/2014/main" id="{6367940E-5579-6427-4668-F52E0D1044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203144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BA513B0-82FF-4F41-8178-885375D1C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3DB8501-F9F2-4ACD-B56A-9019CD500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2987478"/>
            <a:ext cx="12228128" cy="1828800"/>
            <a:chOff x="-305" y="2987478"/>
            <a:chExt cx="12188952" cy="18288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D03A94A-ADF5-4334-86B1-DBA5F70ACD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85A18E1-CBE3-4BBD-B1B7-CDBCA685E0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33EDCAA-1D6C-4710-9DA1-C7FC946D8E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3916FBF2-1CC9-460D-A42B-FB77E515E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DE7AB7E-27B3-5598-8F9B-E3D13652C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551037"/>
            <a:ext cx="5021782" cy="150993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CB90C-260A-1926-FF06-0EB78E807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7547" y="5008237"/>
            <a:ext cx="4926411" cy="150993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500">
                <a:solidFill>
                  <a:schemeClr val="tx2"/>
                </a:solidFill>
              </a:rPr>
              <a:t>Used a data frame pipeline to calculate an "affordablilty_ratio" column</a:t>
            </a:r>
          </a:p>
          <a:p>
            <a:r>
              <a:rPr lang="en-US" sz="1500">
                <a:solidFill>
                  <a:schemeClr val="tx2"/>
                </a:solidFill>
              </a:rPr>
              <a:t>Local market expenses vs standard global reference </a:t>
            </a:r>
          </a:p>
          <a:p>
            <a:r>
              <a:rPr lang="en-US" sz="1500">
                <a:solidFill>
                  <a:schemeClr val="tx2"/>
                </a:solidFill>
              </a:rPr>
              <a:t>Aggregated by country and year-end</a:t>
            </a:r>
          </a:p>
          <a:p>
            <a:endParaRPr lang="en-US" sz="1500">
              <a:solidFill>
                <a:schemeClr val="tx2"/>
              </a:solidFill>
            </a:endParaRPr>
          </a:p>
        </p:txBody>
      </p:sp>
      <p:pic>
        <p:nvPicPr>
          <p:cNvPr id="5" name="Picture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D378B9B3-3DDC-4EE8-4252-EB53AB769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6792" y="-1587"/>
            <a:ext cx="12226506" cy="4836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5473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7D60F-FF72-217E-9389-BB2FA86F5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anchor="b">
            <a:normAutofit/>
          </a:bodyPr>
          <a:lstStyle/>
          <a:p>
            <a:r>
              <a:rPr lang="en-US" sz="3200"/>
              <a:t>Results  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CD2A8-9A3C-38ED-F701-C97974D54F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3455821" cy="344783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/>
              <a:t>Food affordability diverged sharply across countries </a:t>
            </a:r>
          </a:p>
          <a:p>
            <a:r>
              <a:rPr lang="en-US" sz="2000"/>
              <a:t>Venezuela stands out with skyrocketing affordability ratios </a:t>
            </a:r>
          </a:p>
          <a:p>
            <a:r>
              <a:rPr lang="en-US" sz="2000"/>
              <a:t>Zimbabwe has a surge in the late 2010s</a:t>
            </a:r>
          </a:p>
          <a:p>
            <a:r>
              <a:rPr lang="en-US" sz="2000"/>
              <a:t>Multiple countries showing steady movement upward</a:t>
            </a:r>
          </a:p>
          <a:p>
            <a:endParaRPr lang="en-US" sz="2000"/>
          </a:p>
        </p:txBody>
      </p:sp>
      <p:pic>
        <p:nvPicPr>
          <p:cNvPr id="4" name="Picture 3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7E61D688-2F89-0414-1399-57CF5808C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672" y="1860279"/>
            <a:ext cx="6389346" cy="3146752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77885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Feeding the Data: Mining Patterns in Global Food Prices</vt:lpstr>
      <vt:lpstr>Introduction</vt:lpstr>
      <vt:lpstr>Dean: Where was this data taken from?</vt:lpstr>
      <vt:lpstr>Dean: Where was this data taken from?</vt:lpstr>
      <vt:lpstr>Dean: How have wages changed over time?</vt:lpstr>
      <vt:lpstr>Dean: Are there outliers in the food prices?</vt:lpstr>
      <vt:lpstr>Dean: Are there outliers in the food prices?</vt:lpstr>
      <vt:lpstr>How have median food prices shifted between the 2000s, 2010s, and 2020s?</vt:lpstr>
      <vt:lpstr>Methodology</vt:lpstr>
      <vt:lpstr>Key Findings</vt:lpstr>
      <vt:lpstr>Can we classify foods as Perishable or Non-Perishable?</vt:lpstr>
      <vt:lpstr>Methodology </vt:lpstr>
      <vt:lpstr>Key Findings </vt:lpstr>
      <vt:lpstr>Do different countries show unique patterns in the food items reported together?</vt:lpstr>
      <vt:lpstr>Methodology</vt:lpstr>
      <vt:lpstr>Key Findings</vt:lpstr>
      <vt:lpstr>Price Volatility</vt:lpstr>
      <vt:lpstr>Methodology </vt:lpstr>
      <vt:lpstr>Results </vt:lpstr>
      <vt:lpstr>Geographic Influence </vt:lpstr>
      <vt:lpstr>Methodology and purpose</vt:lpstr>
      <vt:lpstr>Results</vt:lpstr>
      <vt:lpstr>Wages vs Affordability </vt:lpstr>
      <vt:lpstr>Methodology</vt:lpstr>
      <vt:lpstr>Results  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239</cp:revision>
  <dcterms:created xsi:type="dcterms:W3CDTF">2025-11-20T18:36:49Z</dcterms:created>
  <dcterms:modified xsi:type="dcterms:W3CDTF">2025-12-01T03:23:33Z</dcterms:modified>
</cp:coreProperties>
</file>